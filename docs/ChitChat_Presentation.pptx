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7" r:id="rId2"/>
    <p:sldId id="292" r:id="rId3"/>
    <p:sldId id="291" r:id="rId4"/>
    <p:sldId id="289" r:id="rId5"/>
    <p:sldId id="286" r:id="rId6"/>
    <p:sldId id="277" r:id="rId7"/>
    <p:sldId id="273" r:id="rId8"/>
    <p:sldId id="294" r:id="rId9"/>
    <p:sldId id="262" r:id="rId10"/>
    <p:sldId id="269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8"/>
  </p:normalViewPr>
  <p:slideViewPr>
    <p:cSldViewPr snapToGrid="0" snapToObjects="1">
      <p:cViewPr varScale="1">
        <p:scale>
          <a:sx n="122" d="100"/>
          <a:sy n="122" d="100"/>
        </p:scale>
        <p:origin x="224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31000"/>
            <a:ext cx="12192000" cy="127000"/>
          </a:xfrm>
          <a:prstGeom prst="rect">
            <a:avLst/>
          </a:prstGeom>
          <a:gradFill>
            <a:gsLst>
              <a:gs pos="0">
                <a:srgbClr val="0097A7"/>
              </a:gs>
              <a:gs pos="50000">
                <a:srgbClr val="00BCD4"/>
              </a:gs>
              <a:gs pos="100000">
                <a:srgbClr val="26A69A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rgbClr val="2D2D2D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4A4A4A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rgbClr val="4A4A4A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svg"/><Relationship Id="rId3" Type="http://schemas.openxmlformats.org/officeDocument/2006/relationships/image" Target="../media/image2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svg"/><Relationship Id="rId3" Type="http://schemas.openxmlformats.org/officeDocument/2006/relationships/image" Target="../media/image4.svg"/><Relationship Id="rId4" Type="http://schemas.openxmlformats.org/officeDocument/2006/relationships/image" Target="../media/image5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svg"/><Relationship Id="rId3" Type="http://schemas.openxmlformats.org/officeDocument/2006/relationships/image" Target="../media/image7.svg"/><Relationship Id="rId4" Type="http://schemas.openxmlformats.org/officeDocument/2006/relationships/image" Target="../media/image8.svg"/><Relationship Id="rId5" Type="http://schemas.openxmlformats.org/officeDocument/2006/relationships/image" Target="../media/image9.svg"/><Relationship Id="rId6" Type="http://schemas.openxmlformats.org/officeDocument/2006/relationships/image" Target="../media/image3.svg"/><Relationship Id="rId7" Type="http://schemas.openxmlformats.org/officeDocument/2006/relationships/image" Target="../media/image10.svg"/><Relationship Id="rId8" Type="http://schemas.openxmlformats.org/officeDocument/2006/relationships/image" Target="../media/image11.svg"/><Relationship Id="rId9" Type="http://schemas.openxmlformats.org/officeDocument/2006/relationships/image" Target="../media/image12.svg"/><Relationship Id="rId10" Type="http://schemas.openxmlformats.org/officeDocument/2006/relationships/image" Target="../media/image1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svg"/><Relationship Id="rId3" Type="http://schemas.openxmlformats.org/officeDocument/2006/relationships/image" Target="../media/image1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11A9BA-07AA-3A4B-82D0-4B71DD02B09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B2E67-5EEA-5846-BEE1-FC416A15EE1D}"/>
              </a:ext>
            </a:extLst>
          </p:cNvPr>
          <p:cNvSpPr txBox="1"/>
          <p:nvPr/>
        </p:nvSpPr>
        <p:spPr>
          <a:xfrm>
            <a:off x="762000" y="1397000"/>
            <a:ext cx="106553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6400" b="1">
                <a:solidFill>
                  <a:srgbClr val="0097A7"/>
                </a:solidFill>
                <a:latin typeface="Montserrat"/>
              </a:rPr>
              <a:t>ChitChat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9AD31-3158-5541-A65E-AB9D7F147D53}"/>
              </a:ext>
            </a:extLst>
          </p:cNvPr>
          <p:cNvSpPr txBox="1"/>
          <p:nvPr/>
        </p:nvSpPr>
        <p:spPr>
          <a:xfrm>
            <a:off x="762000" y="2540000"/>
            <a:ext cx="106553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i="1">
                <a:solidFill>
                  <a:srgbClr val="546E7A"/>
                </a:solidFill>
                <a:latin typeface="Source Sans Pro"/>
                <a:ea typeface="Source Sans Pro"/>
              </a:rPr>
              <a:t>A Real-Time Messaging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45DA4-AE30-9D4C-8353-7A036639284C}"/>
              </a:ext>
            </a:extLst>
          </p:cNvPr>
          <p:cNvSpPr/>
          <p:nvPr/>
        </p:nvSpPr>
        <p:spPr>
          <a:xfrm>
            <a:off x="762000" y="3302000"/>
            <a:ext cx="3810000" cy="508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ADF0A8-1597-CA42-BDF6-D4676922F97B}"/>
              </a:ext>
            </a:extLst>
          </p:cNvPr>
          <p:cNvSpPr txBox="1"/>
          <p:nvPr/>
        </p:nvSpPr>
        <p:spPr>
          <a:xfrm>
            <a:off x="762000" y="3556000"/>
            <a:ext cx="6350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>
                <a:solidFill>
                  <a:srgbClr val="4A4A4A"/>
                </a:solidFill>
                <a:latin typeface="Source Sans Pro"/>
                <a:ea typeface="Source Sans Pro"/>
              </a:rPr>
              <a:t>COMP.2800 — Software Development
Professor: Dr. Andreas S. Maniatis
University of Windsor  |  Winter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CB9B19-5834-F140-B991-49CD96DB811D}"/>
              </a:ext>
            </a:extLst>
          </p:cNvPr>
          <p:cNvSpPr txBox="1"/>
          <p:nvPr/>
        </p:nvSpPr>
        <p:spPr>
          <a:xfrm>
            <a:off x="762000" y="4826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 dirty="0">
                <a:solidFill>
                  <a:srgbClr val="0097A7"/>
                </a:solidFill>
                <a:latin typeface="Montserrat"/>
              </a:rPr>
              <a:t>Group 7</a:t>
            </a:r>
          </a:p>
          <a:p>
            <a:pPr algn="l">
              <a:spcBef>
                <a:spcPts val="200"/>
              </a:spcBef>
            </a:pPr>
            <a:r>
              <a:rPr lang="en-US" sz="1500" b="0" dirty="0">
                <a:solidFill>
                  <a:srgbClr val="4A4A4A"/>
                </a:solidFill>
                <a:latin typeface="Source Sans Pro"/>
              </a:rPr>
              <a:t>Deep Mandaliya  ·  Ayden Sendrea  ·  Asma Mohamed  ·  Stephen-Caleb Fallon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F29C7-EC0E-194D-A4DD-B101FEF3D6C9}"/>
              </a:ext>
            </a:extLst>
          </p:cNvPr>
          <p:cNvSpPr txBox="1"/>
          <p:nvPr/>
        </p:nvSpPr>
        <p:spPr>
          <a:xfrm>
            <a:off x="762000" y="59690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8909C"/>
                </a:solidFill>
                <a:latin typeface="Source Sans Pro"/>
                <a:ea typeface="Source Sans Pro"/>
              </a:rPr>
              <a:t>Submitted: March 29, 2026</a:t>
            </a:r>
          </a:p>
        </p:txBody>
      </p:sp>
    </p:spTree>
    <p:extLst>
      <p:ext uri="{BB962C8B-B14F-4D97-AF65-F5344CB8AC3E}">
        <p14:creationId xmlns:p14="http://schemas.microsoft.com/office/powerpoint/2010/main" val="521587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52ADB7-3DC6-084D-BD33-04535E29D65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37D66-6178-9B4C-A74B-E7475F872B4E}"/>
              </a:ext>
            </a:extLst>
          </p:cNvPr>
          <p:cNvSpPr txBox="1"/>
          <p:nvPr/>
        </p:nvSpPr>
        <p:spPr>
          <a:xfrm>
            <a:off x="762000" y="381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2D2D2D"/>
                </a:solidFill>
                <a:latin typeface="Montserrat"/>
              </a:rPr>
              <a:t>Team Members &amp; Roles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55F26-3F15-AE47-A060-7DBB17E95E77}"/>
              </a:ext>
            </a:extLst>
          </p:cNvPr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E6FEA54-BFD3-6B4E-9B3A-BF792AEA5A09}"/>
              </a:ext>
            </a:extLst>
          </p:cNvPr>
          <p:cNvSpPr/>
          <p:nvPr/>
        </p:nvSpPr>
        <p:spPr>
          <a:xfrm>
            <a:off x="762000" y="1270000"/>
            <a:ext cx="53340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04E4CE-CB3A-CE48-ACFC-6F064703D28F}"/>
              </a:ext>
            </a:extLst>
          </p:cNvPr>
          <p:cNvSpPr/>
          <p:nvPr/>
        </p:nvSpPr>
        <p:spPr>
          <a:xfrm>
            <a:off x="762000" y="1270000"/>
            <a:ext cx="5334000" cy="635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FCF68F-E0F6-6148-B43D-4F8AD57D640C}"/>
              </a:ext>
            </a:extLst>
          </p:cNvPr>
          <p:cNvSpPr txBox="1"/>
          <p:nvPr/>
        </p:nvSpPr>
        <p:spPr>
          <a:xfrm>
            <a:off x="952500" y="14478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Montserrat"/>
              </a:rPr>
              <a:t>Deep Mandaliya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AC42D-1AAC-D142-A50C-DA047B07B7A3}"/>
              </a:ext>
            </a:extLst>
          </p:cNvPr>
          <p:cNvSpPr txBox="1"/>
          <p:nvPr/>
        </p:nvSpPr>
        <p:spPr>
          <a:xfrm>
            <a:off x="952500" y="18288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0097A7"/>
                </a:solidFill>
                <a:latin typeface="Source Sans Pro"/>
              </a:rPr>
              <a:t>Project Manager · Database Lead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BA5675-818C-1D45-8A73-56112458F295}"/>
              </a:ext>
            </a:extLst>
          </p:cNvPr>
          <p:cNvSpPr/>
          <p:nvPr/>
        </p:nvSpPr>
        <p:spPr>
          <a:xfrm>
            <a:off x="952500" y="2184400"/>
            <a:ext cx="4953000" cy="12700"/>
          </a:xfrm>
          <a:prstGeom prst="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AEDC75-CFAD-134D-8394-B771A88F6F8A}"/>
              </a:ext>
            </a:extLst>
          </p:cNvPr>
          <p:cNvSpPr txBox="1"/>
          <p:nvPr/>
        </p:nvSpPr>
        <p:spPr>
          <a:xfrm>
            <a:off x="952500" y="22860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</a:rPr>
              <a:t>Schema design, JPA entities, Maven config, Azure deployment, integration testing, documentation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A8970B-D7B8-7C4A-A520-FC866EFD0E41}"/>
              </a:ext>
            </a:extLst>
          </p:cNvPr>
          <p:cNvSpPr/>
          <p:nvPr/>
        </p:nvSpPr>
        <p:spPr>
          <a:xfrm>
            <a:off x="6413500" y="1270000"/>
            <a:ext cx="53340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059AE1-400D-2B4C-A5BF-8483286C8DF4}"/>
              </a:ext>
            </a:extLst>
          </p:cNvPr>
          <p:cNvSpPr/>
          <p:nvPr/>
        </p:nvSpPr>
        <p:spPr>
          <a:xfrm>
            <a:off x="6413500" y="1270000"/>
            <a:ext cx="5334000" cy="635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74E0DC-7E2F-9848-9B7B-2593405F49AF}"/>
              </a:ext>
            </a:extLst>
          </p:cNvPr>
          <p:cNvSpPr txBox="1"/>
          <p:nvPr/>
        </p:nvSpPr>
        <p:spPr>
          <a:xfrm>
            <a:off x="6604000" y="14478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Montserrat"/>
              </a:rPr>
              <a:t>Ayden Sendrea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F65317-613F-4946-AD14-6063F137E04C}"/>
              </a:ext>
            </a:extLst>
          </p:cNvPr>
          <p:cNvSpPr txBox="1"/>
          <p:nvPr/>
        </p:nvSpPr>
        <p:spPr>
          <a:xfrm>
            <a:off x="6604000" y="18288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0097A7"/>
                </a:solidFill>
                <a:latin typeface="Source Sans Pro"/>
              </a:rPr>
              <a:t>Backend Lead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CFF327-6521-1A40-B01F-97EB6DA02A8A}"/>
              </a:ext>
            </a:extLst>
          </p:cNvPr>
          <p:cNvSpPr/>
          <p:nvPr/>
        </p:nvSpPr>
        <p:spPr>
          <a:xfrm>
            <a:off x="6604000" y="2184400"/>
            <a:ext cx="4953000" cy="12700"/>
          </a:xfrm>
          <a:prstGeom prst="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A7BB53-64A0-3B4B-9EF0-D1593426909E}"/>
              </a:ext>
            </a:extLst>
          </p:cNvPr>
          <p:cNvSpPr txBox="1"/>
          <p:nvPr/>
        </p:nvSpPr>
        <p:spPr>
          <a:xfrm>
            <a:off x="6604000" y="22860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</a:rPr>
              <a:t>Spring Boot server, REST API design, STOMP WebSocket broker, ChatController, read receipt logic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6C160EA-F9D8-4D4F-9A57-7D17AC4F907C}"/>
              </a:ext>
            </a:extLst>
          </p:cNvPr>
          <p:cNvSpPr/>
          <p:nvPr/>
        </p:nvSpPr>
        <p:spPr>
          <a:xfrm>
            <a:off x="762000" y="3746500"/>
            <a:ext cx="53340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0695E4-1EE5-A545-84FE-A491CE050FF8}"/>
              </a:ext>
            </a:extLst>
          </p:cNvPr>
          <p:cNvSpPr/>
          <p:nvPr/>
        </p:nvSpPr>
        <p:spPr>
          <a:xfrm>
            <a:off x="762000" y="3746500"/>
            <a:ext cx="5334000" cy="635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957110-34D0-9E43-A620-6880CE2D2E52}"/>
              </a:ext>
            </a:extLst>
          </p:cNvPr>
          <p:cNvSpPr txBox="1"/>
          <p:nvPr/>
        </p:nvSpPr>
        <p:spPr>
          <a:xfrm>
            <a:off x="952500" y="3924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Montserrat"/>
              </a:rPr>
              <a:t>Asma Mohamed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D9D550-86BC-5347-B867-53BCB6CD9758}"/>
              </a:ext>
            </a:extLst>
          </p:cNvPr>
          <p:cNvSpPr txBox="1"/>
          <p:nvPr/>
        </p:nvSpPr>
        <p:spPr>
          <a:xfrm>
            <a:off x="952500" y="43053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0097A7"/>
                </a:solidFill>
                <a:latin typeface="Source Sans Pro"/>
              </a:rPr>
              <a:t>Frontend Lead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ADA224-63B9-DE47-A035-CD208B19E6AA}"/>
              </a:ext>
            </a:extLst>
          </p:cNvPr>
          <p:cNvSpPr/>
          <p:nvPr/>
        </p:nvSpPr>
        <p:spPr>
          <a:xfrm>
            <a:off x="952500" y="4660900"/>
            <a:ext cx="4953000" cy="12700"/>
          </a:xfrm>
          <a:prstGeom prst="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F110C0-99E4-A945-A63C-8A83992DBCC0}"/>
              </a:ext>
            </a:extLst>
          </p:cNvPr>
          <p:cNvSpPr txBox="1"/>
          <p:nvPr/>
        </p:nvSpPr>
        <p:spPr>
          <a:xfrm>
            <a:off x="952500" y="4762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</a:rPr>
              <a:t>Web frontend (HTML/CSS/JS), user profile page, settings UI, browser WebRTC call interface, user guide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B9EDFF3-3D6D-414D-9ADB-71C45F2F51A4}"/>
              </a:ext>
            </a:extLst>
          </p:cNvPr>
          <p:cNvSpPr/>
          <p:nvPr/>
        </p:nvSpPr>
        <p:spPr>
          <a:xfrm>
            <a:off x="6413500" y="3746500"/>
            <a:ext cx="5334000" cy="2222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3964AD-F49D-034D-9A0C-B9361EBA1887}"/>
              </a:ext>
            </a:extLst>
          </p:cNvPr>
          <p:cNvSpPr/>
          <p:nvPr/>
        </p:nvSpPr>
        <p:spPr>
          <a:xfrm>
            <a:off x="6413500" y="3746500"/>
            <a:ext cx="5334000" cy="635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FB87FD-3987-8D47-97FC-0CC791019F69}"/>
              </a:ext>
            </a:extLst>
          </p:cNvPr>
          <p:cNvSpPr txBox="1"/>
          <p:nvPr/>
        </p:nvSpPr>
        <p:spPr>
          <a:xfrm>
            <a:off x="6604000" y="3924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D2D2D"/>
                </a:solidFill>
                <a:latin typeface="Montserrat"/>
              </a:rPr>
              <a:t>Stephen-Caleb Fallon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DCE246-E134-BA4F-BF64-5BB5D910F54F}"/>
              </a:ext>
            </a:extLst>
          </p:cNvPr>
          <p:cNvSpPr txBox="1"/>
          <p:nvPr/>
        </p:nvSpPr>
        <p:spPr>
          <a:xfrm>
            <a:off x="6604000" y="4305300"/>
            <a:ext cx="4953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0097A7"/>
                </a:solidFill>
                <a:latin typeface="Source Sans Pro"/>
              </a:rPr>
              <a:t>Desktop Client Lead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7BB8CC2-3D58-B143-AA87-77891E4FF2D3}"/>
              </a:ext>
            </a:extLst>
          </p:cNvPr>
          <p:cNvSpPr/>
          <p:nvPr/>
        </p:nvSpPr>
        <p:spPr>
          <a:xfrm>
            <a:off x="6604000" y="4660900"/>
            <a:ext cx="4953000" cy="12700"/>
          </a:xfrm>
          <a:prstGeom prst="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E2BC478-D25B-7442-885F-A113F7EBF978}"/>
              </a:ext>
            </a:extLst>
          </p:cNvPr>
          <p:cNvSpPr txBox="1"/>
          <p:nvPr/>
        </p:nvSpPr>
        <p:spPr>
          <a:xfrm>
            <a:off x="6604000" y="4762500"/>
            <a:ext cx="4953000" cy="1079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</a:rPr>
              <a:t>JavaFX app, FXML layouts, manual STOMP client, dark mode, desktop notifications, CSS theming</a:t>
            </a:r>
          </a:p>
        </p:txBody>
      </p:sp>
    </p:spTree>
    <p:extLst>
      <p:ext uri="{BB962C8B-B14F-4D97-AF65-F5344CB8AC3E}">
        <p14:creationId xmlns:p14="http://schemas.microsoft.com/office/powerpoint/2010/main" val="3241035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3B3ABB-7BDD-2F49-B94C-A1BB70AF2CE8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2D7BD8-B567-1646-9DFB-B6DCE81BEF59}"/>
              </a:ext>
            </a:extLst>
          </p:cNvPr>
          <p:cNvSpPr txBox="1"/>
          <p:nvPr/>
        </p:nvSpPr>
        <p:spPr>
          <a:xfrm>
            <a:off x="762000" y="381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2D2D2D"/>
                </a:solidFill>
                <a:latin typeface="Montserrat"/>
              </a:rPr>
              <a:t>Problem Scope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13794-5865-DF44-9371-3B0746471FB7}"/>
              </a:ext>
            </a:extLst>
          </p:cNvPr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C9C99D-8E55-0F41-A624-2E3889C54ACB}"/>
              </a:ext>
            </a:extLst>
          </p:cNvPr>
          <p:cNvSpPr/>
          <p:nvPr/>
        </p:nvSpPr>
        <p:spPr>
          <a:xfrm>
            <a:off x="762000" y="1270000"/>
            <a:ext cx="5270500" cy="5080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066652-966D-5143-A677-F0DDD61752F3}"/>
              </a:ext>
            </a:extLst>
          </p:cNvPr>
          <p:cNvSpPr/>
          <p:nvPr/>
        </p:nvSpPr>
        <p:spPr>
          <a:xfrm>
            <a:off x="762000" y="1270000"/>
            <a:ext cx="5270500" cy="63500"/>
          </a:xfrm>
          <a:prstGeom prst="rect">
            <a:avLst/>
          </a:prstGeom>
          <a:solidFill>
            <a:srgbClr val="FF6F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C8C7B0-D2CF-EA49-A747-266924A374DF}"/>
              </a:ext>
            </a:extLst>
          </p:cNvPr>
          <p:cNvSpPr txBox="1"/>
          <p:nvPr/>
        </p:nvSpPr>
        <p:spPr>
          <a:xfrm>
            <a:off x="990600" y="14605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F6F61"/>
                </a:solidFill>
                <a:latin typeface="Montserrat"/>
              </a:rPr>
              <a:t>The Problem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A78FC90-0E19-5949-9E3D-7A2D504E0DFF}"/>
              </a:ext>
            </a:extLst>
          </p:cNvPr>
          <p:cNvSpPr/>
          <p:nvPr/>
        </p:nvSpPr>
        <p:spPr>
          <a:xfrm>
            <a:off x="6350000" y="1270000"/>
            <a:ext cx="5270500" cy="5080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BD9553-6F5E-F341-927D-E34FC71468A2}"/>
              </a:ext>
            </a:extLst>
          </p:cNvPr>
          <p:cNvSpPr/>
          <p:nvPr/>
        </p:nvSpPr>
        <p:spPr>
          <a:xfrm>
            <a:off x="6350000" y="1270000"/>
            <a:ext cx="5270500" cy="635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13514-3A53-5846-8840-9256BE235201}"/>
              </a:ext>
            </a:extLst>
          </p:cNvPr>
          <p:cNvSpPr txBox="1"/>
          <p:nvPr/>
        </p:nvSpPr>
        <p:spPr>
          <a:xfrm>
            <a:off x="6578600" y="14605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097A7"/>
                </a:solidFill>
                <a:latin typeface="Montserrat"/>
              </a:rPr>
              <a:t>Our 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A9A05E-25B1-2D45-A085-D4F8F2E1E65D}"/>
              </a:ext>
            </a:extLst>
          </p:cNvPr>
          <p:cNvSpPr txBox="1"/>
          <p:nvPr/>
        </p:nvSpPr>
        <p:spPr>
          <a:xfrm>
            <a:off x="990600" y="2006600"/>
            <a:ext cx="4826000" cy="419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Messaging platforms like Discord, WhatsApp, and Slack are </a:t>
            </a:r>
            <a:r>
              <a:rPr lang="en-US" sz="1500" b="1" dirty="0">
                <a:solidFill>
                  <a:srgbClr val="4A4A4A"/>
                </a:solidFill>
                <a:latin typeface="Source Sans Pro"/>
              </a:rPr>
              <a:t>closed ecosystems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No visibility into the protocols, schemas, or architectures that make real-time messaging work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Students need hands-on experience building real-time, multi-user systems from scratch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No open, educational alternative exists that covers the </a:t>
            </a:r>
            <a:r>
              <a:rPr lang="en-US" sz="1500" b="1" dirty="0">
                <a:solidFill>
                  <a:srgbClr val="4A4A4A"/>
                </a:solidFill>
                <a:latin typeface="Source Sans Pro"/>
              </a:rPr>
              <a:t>full software development lifecycle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B7EE33-9BF6-2241-A11E-11ABA1AF9902}"/>
              </a:ext>
            </a:extLst>
          </p:cNvPr>
          <p:cNvSpPr txBox="1"/>
          <p:nvPr/>
        </p:nvSpPr>
        <p:spPr>
          <a:xfrm>
            <a:off x="6578600" y="2006600"/>
            <a:ext cx="4826000" cy="419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Build a </a:t>
            </a:r>
            <a:r>
              <a:rPr lang="en-US" sz="1500" b="1" dirty="0">
                <a:solidFill>
                  <a:srgbClr val="0097A7"/>
                </a:solidFill>
                <a:latin typeface="Source Sans Pro"/>
              </a:rPr>
              <a:t>production-quality</a:t>
            </a:r>
            <a:r>
              <a:rPr lang="en-US" sz="1500" dirty="0">
                <a:solidFill>
                  <a:srgbClr val="4A4A4A"/>
                </a:solidFill>
                <a:latin typeface="Source Sans Pro"/>
              </a:rPr>
              <a:t> messaging app from first principles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Cover every layer: database design, REST API, WebSocket, JavaFX desktop UI, web frontend, cloud deployment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Support 10+ concurrent users with sub-second delivery, persistent data, and BCrypt-secured accounts</a:t>
            </a:r>
          </a:p>
          <a:p>
            <a:pPr algn="l">
              <a:spcBef>
                <a:spcPts val="400"/>
              </a:spcBef>
              <a:buFont typeface="Arial"/>
              <a:buChar char="▸"/>
            </a:pPr>
            <a:r>
              <a:rPr lang="en-US" sz="1500" dirty="0">
                <a:solidFill>
                  <a:srgbClr val="4A4A4A"/>
                </a:solidFill>
                <a:latin typeface="Source Sans Pro"/>
              </a:rPr>
              <a:t>Deploy live on the public internet throughout the course term</a:t>
            </a:r>
          </a:p>
        </p:txBody>
      </p:sp>
      <p:pic>
        <p:nvPicPr>
          <p:cNvPr id="14" name="Graphic 14" descr="Problem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5600" y="1397000"/>
            <a:ext cx="457200" cy="457200"/>
          </a:xfrm>
          <a:prstGeom prst="rect">
            <a:avLst/>
          </a:prstGeom>
        </p:spPr>
      </p:pic>
      <p:pic>
        <p:nvPicPr>
          <p:cNvPr id="15" name="Graphic 15" descr="Goa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23600" y="13970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6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C18884-8362-1641-99CE-C5BD49F3513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DAA6E9-548A-2A45-A1D2-B85C8444F0A9}"/>
              </a:ext>
            </a:extLst>
          </p:cNvPr>
          <p:cNvSpPr txBox="1"/>
          <p:nvPr/>
        </p:nvSpPr>
        <p:spPr>
          <a:xfrm>
            <a:off x="762000" y="381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400" b="1">
                <a:solidFill>
                  <a:srgbClr val="2D2D2D"/>
                </a:solidFill>
                <a:latin typeface="Montserrat"/>
              </a:rPr>
              <a:t>Overall Solution — 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B46013-912E-F54A-97C8-0D9D4F6B5E09}"/>
              </a:ext>
            </a:extLst>
          </p:cNvPr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AD2B22-C6B6-CB44-A240-7F14B275BA83}"/>
              </a:ext>
            </a:extLst>
          </p:cNvPr>
          <p:cNvSpPr/>
          <p:nvPr/>
        </p:nvSpPr>
        <p:spPr>
          <a:xfrm>
            <a:off x="762000" y="1270000"/>
            <a:ext cx="3429000" cy="5016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AEF26D-A217-964D-8FF1-ACE8BABC0AF1}"/>
              </a:ext>
            </a:extLst>
          </p:cNvPr>
          <p:cNvSpPr/>
          <p:nvPr/>
        </p:nvSpPr>
        <p:spPr>
          <a:xfrm>
            <a:off x="762000" y="1270000"/>
            <a:ext cx="3429000" cy="635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225515-23B9-9345-920E-F4387AD7701D}"/>
              </a:ext>
            </a:extLst>
          </p:cNvPr>
          <p:cNvSpPr txBox="1"/>
          <p:nvPr/>
        </p:nvSpPr>
        <p:spPr>
          <a:xfrm>
            <a:off x="952500" y="14605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097A7"/>
                </a:solidFill>
                <a:latin typeface="Montserrat"/>
              </a:rPr>
              <a:t>Presentation Tier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7A8049-B1E0-174D-8B70-38DE28AFDE05}"/>
              </a:ext>
            </a:extLst>
          </p:cNvPr>
          <p:cNvSpPr/>
          <p:nvPr/>
        </p:nvSpPr>
        <p:spPr>
          <a:xfrm>
            <a:off x="952500" y="1930400"/>
            <a:ext cx="3048000" cy="12700"/>
          </a:xfrm>
          <a:prstGeom prst="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15DC27-A195-254D-9458-B1BBFFE13639}"/>
              </a:ext>
            </a:extLst>
          </p:cNvPr>
          <p:cNvSpPr/>
          <p:nvPr/>
        </p:nvSpPr>
        <p:spPr>
          <a:xfrm>
            <a:off x="1016000" y="2171700"/>
            <a:ext cx="101600" cy="101600"/>
          </a:xfrm>
          <a:prstGeom prst="ellipse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182965-AE80-A94C-9DE4-97E902DE0E90}"/>
              </a:ext>
            </a:extLst>
          </p:cNvPr>
          <p:cNvSpPr txBox="1"/>
          <p:nvPr/>
        </p:nvSpPr>
        <p:spPr>
          <a:xfrm>
            <a:off x="1206500" y="2095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JavaFX 21 Desktop App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8E8A63-C59C-ED4C-A0E7-708C00C7D23D}"/>
              </a:ext>
            </a:extLst>
          </p:cNvPr>
          <p:cNvSpPr/>
          <p:nvPr/>
        </p:nvSpPr>
        <p:spPr>
          <a:xfrm>
            <a:off x="1016000" y="3187700"/>
            <a:ext cx="101600" cy="101600"/>
          </a:xfrm>
          <a:prstGeom prst="ellipse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92D54-713E-E749-AC7A-FB82A593113C}"/>
              </a:ext>
            </a:extLst>
          </p:cNvPr>
          <p:cNvSpPr txBox="1"/>
          <p:nvPr/>
        </p:nvSpPr>
        <p:spPr>
          <a:xfrm>
            <a:off x="1206500" y="3111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HTML/CSS/JS Web Client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9F81F2-ADF6-E140-A901-7FA953A4B39C}"/>
              </a:ext>
            </a:extLst>
          </p:cNvPr>
          <p:cNvSpPr/>
          <p:nvPr/>
        </p:nvSpPr>
        <p:spPr>
          <a:xfrm>
            <a:off x="1016000" y="4203700"/>
            <a:ext cx="101600" cy="101600"/>
          </a:xfrm>
          <a:prstGeom prst="ellipse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7A79DA-EB9E-284C-B779-11960972B365}"/>
              </a:ext>
            </a:extLst>
          </p:cNvPr>
          <p:cNvSpPr txBox="1"/>
          <p:nvPr/>
        </p:nvSpPr>
        <p:spPr>
          <a:xfrm>
            <a:off x="1206500" y="4127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FXML + CSS Theming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10CC1F5-EED6-B84E-AE09-BBE13F08304C}"/>
              </a:ext>
            </a:extLst>
          </p:cNvPr>
          <p:cNvSpPr/>
          <p:nvPr/>
        </p:nvSpPr>
        <p:spPr>
          <a:xfrm>
            <a:off x="1016000" y="5219700"/>
            <a:ext cx="101600" cy="101600"/>
          </a:xfrm>
          <a:prstGeom prst="ellipse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409B2E-FD48-A64C-B33F-193A9A4A9583}"/>
              </a:ext>
            </a:extLst>
          </p:cNvPr>
          <p:cNvSpPr txBox="1"/>
          <p:nvPr/>
        </p:nvSpPr>
        <p:spPr>
          <a:xfrm>
            <a:off x="1206500" y="5143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Dark Mode Support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2A72678-80A7-0A46-A44F-ECAA83525CEC}"/>
              </a:ext>
            </a:extLst>
          </p:cNvPr>
          <p:cNvSpPr/>
          <p:nvPr/>
        </p:nvSpPr>
        <p:spPr>
          <a:xfrm>
            <a:off x="4419600" y="1270000"/>
            <a:ext cx="3429000" cy="5016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47F7CD-FB3A-D34F-B8FB-B7FC2A56958D}"/>
              </a:ext>
            </a:extLst>
          </p:cNvPr>
          <p:cNvSpPr/>
          <p:nvPr/>
        </p:nvSpPr>
        <p:spPr>
          <a:xfrm>
            <a:off x="4419600" y="1270000"/>
            <a:ext cx="3429000" cy="63500"/>
          </a:xfrm>
          <a:prstGeom prst="rect">
            <a:avLst/>
          </a:prstGeom>
          <a:solidFill>
            <a:srgbClr val="26A69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3B70EF-77F8-5941-9E61-316259624D2E}"/>
              </a:ext>
            </a:extLst>
          </p:cNvPr>
          <p:cNvSpPr txBox="1"/>
          <p:nvPr/>
        </p:nvSpPr>
        <p:spPr>
          <a:xfrm>
            <a:off x="4610100" y="14605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26A69A"/>
                </a:solidFill>
                <a:latin typeface="Montserrat"/>
              </a:rPr>
              <a:t>Application Tier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23884D-8D22-0A48-BF4E-771B52331BB7}"/>
              </a:ext>
            </a:extLst>
          </p:cNvPr>
          <p:cNvSpPr/>
          <p:nvPr/>
        </p:nvSpPr>
        <p:spPr>
          <a:xfrm>
            <a:off x="4610100" y="1930400"/>
            <a:ext cx="3048000" cy="12700"/>
          </a:xfrm>
          <a:prstGeom prst="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7BAA407-17D4-AC44-B36E-CC0BAC000137}"/>
              </a:ext>
            </a:extLst>
          </p:cNvPr>
          <p:cNvSpPr/>
          <p:nvPr/>
        </p:nvSpPr>
        <p:spPr>
          <a:xfrm>
            <a:off x="4673600" y="2171700"/>
            <a:ext cx="101600" cy="101600"/>
          </a:xfrm>
          <a:prstGeom prst="ellipse">
            <a:avLst/>
          </a:prstGeom>
          <a:solidFill>
            <a:srgbClr val="26A69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1C5546-EAA8-EF40-A4E6-BBC12331DD3B}"/>
              </a:ext>
            </a:extLst>
          </p:cNvPr>
          <p:cNvSpPr txBox="1"/>
          <p:nvPr/>
        </p:nvSpPr>
        <p:spPr>
          <a:xfrm>
            <a:off x="4864100" y="2095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Spring Boot 3.4.3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EFD3E9C-B254-3E40-89DC-5FD09A548E12}"/>
              </a:ext>
            </a:extLst>
          </p:cNvPr>
          <p:cNvSpPr/>
          <p:nvPr/>
        </p:nvSpPr>
        <p:spPr>
          <a:xfrm>
            <a:off x="4673600" y="3187700"/>
            <a:ext cx="101600" cy="101600"/>
          </a:xfrm>
          <a:prstGeom prst="ellipse">
            <a:avLst/>
          </a:prstGeom>
          <a:solidFill>
            <a:srgbClr val="26A69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6DA57F-047B-1F4A-A674-3D2BE19A1887}"/>
              </a:ext>
            </a:extLst>
          </p:cNvPr>
          <p:cNvSpPr txBox="1"/>
          <p:nvPr/>
        </p:nvSpPr>
        <p:spPr>
          <a:xfrm>
            <a:off x="4864100" y="3111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REST API (OkHttp3)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9617C0-C2FB-9646-B513-CE3647AFC91C}"/>
              </a:ext>
            </a:extLst>
          </p:cNvPr>
          <p:cNvSpPr/>
          <p:nvPr/>
        </p:nvSpPr>
        <p:spPr>
          <a:xfrm>
            <a:off x="4673600" y="4203700"/>
            <a:ext cx="101600" cy="101600"/>
          </a:xfrm>
          <a:prstGeom prst="ellipse">
            <a:avLst/>
          </a:prstGeom>
          <a:solidFill>
            <a:srgbClr val="26A69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39DA8B-E43B-0C47-826E-67D9C98E98CC}"/>
              </a:ext>
            </a:extLst>
          </p:cNvPr>
          <p:cNvSpPr txBox="1"/>
          <p:nvPr/>
        </p:nvSpPr>
        <p:spPr>
          <a:xfrm>
            <a:off x="4864100" y="4127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STOMP WebSocket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09E7D88-C7EF-194E-AB1F-5CA5E122A735}"/>
              </a:ext>
            </a:extLst>
          </p:cNvPr>
          <p:cNvSpPr/>
          <p:nvPr/>
        </p:nvSpPr>
        <p:spPr>
          <a:xfrm>
            <a:off x="4673600" y="5219700"/>
            <a:ext cx="101600" cy="101600"/>
          </a:xfrm>
          <a:prstGeom prst="ellipse">
            <a:avLst/>
          </a:prstGeom>
          <a:solidFill>
            <a:srgbClr val="26A69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EECB845-181B-C146-A502-3E7621105718}"/>
              </a:ext>
            </a:extLst>
          </p:cNvPr>
          <p:cNvSpPr txBox="1"/>
          <p:nvPr/>
        </p:nvSpPr>
        <p:spPr>
          <a:xfrm>
            <a:off x="4864100" y="5143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WebRTC Signalling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0154E7D-D2BF-7E4F-AB65-AAA0703C7BEF}"/>
              </a:ext>
            </a:extLst>
          </p:cNvPr>
          <p:cNvSpPr/>
          <p:nvPr/>
        </p:nvSpPr>
        <p:spPr>
          <a:xfrm>
            <a:off x="8077200" y="1270000"/>
            <a:ext cx="3429000" cy="50165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E1C9F9-A690-F14F-B20F-58AD934BD7F2}"/>
              </a:ext>
            </a:extLst>
          </p:cNvPr>
          <p:cNvSpPr/>
          <p:nvPr/>
        </p:nvSpPr>
        <p:spPr>
          <a:xfrm>
            <a:off x="8077200" y="1270000"/>
            <a:ext cx="3429000" cy="63500"/>
          </a:xfrm>
          <a:prstGeom prst="rect">
            <a:avLst/>
          </a:prstGeom>
          <a:solidFill>
            <a:srgbClr val="546E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66E170-2811-CF4F-8A62-CEB8EEDD1537}"/>
              </a:ext>
            </a:extLst>
          </p:cNvPr>
          <p:cNvSpPr txBox="1"/>
          <p:nvPr/>
        </p:nvSpPr>
        <p:spPr>
          <a:xfrm>
            <a:off x="8267700" y="1460500"/>
            <a:ext cx="3048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546E7A"/>
                </a:solidFill>
                <a:latin typeface="Montserrat"/>
              </a:rPr>
              <a:t>Data Tier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5A4C5CC-AE72-0A4E-9B95-AA037465F5EE}"/>
              </a:ext>
            </a:extLst>
          </p:cNvPr>
          <p:cNvSpPr/>
          <p:nvPr/>
        </p:nvSpPr>
        <p:spPr>
          <a:xfrm>
            <a:off x="8267700" y="1930400"/>
            <a:ext cx="3048000" cy="12700"/>
          </a:xfrm>
          <a:prstGeom prst="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60A2834-BFFB-4C41-9BC6-7CC08810F419}"/>
              </a:ext>
            </a:extLst>
          </p:cNvPr>
          <p:cNvSpPr/>
          <p:nvPr/>
        </p:nvSpPr>
        <p:spPr>
          <a:xfrm>
            <a:off x="8331200" y="2171700"/>
            <a:ext cx="101600" cy="101600"/>
          </a:xfrm>
          <a:prstGeom prst="ellipse">
            <a:avLst/>
          </a:prstGeom>
          <a:solidFill>
            <a:srgbClr val="546E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6157EE-EA5A-9740-A7CB-14BA41ACAFBA}"/>
              </a:ext>
            </a:extLst>
          </p:cNvPr>
          <p:cNvSpPr txBox="1"/>
          <p:nvPr/>
        </p:nvSpPr>
        <p:spPr>
          <a:xfrm>
            <a:off x="8521700" y="2095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MySQL 9.6 (Local)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0C01E67-50E4-9343-90CF-87094224850C}"/>
              </a:ext>
            </a:extLst>
          </p:cNvPr>
          <p:cNvSpPr/>
          <p:nvPr/>
        </p:nvSpPr>
        <p:spPr>
          <a:xfrm>
            <a:off x="8331200" y="3187700"/>
            <a:ext cx="101600" cy="101600"/>
          </a:xfrm>
          <a:prstGeom prst="ellipse">
            <a:avLst/>
          </a:prstGeom>
          <a:solidFill>
            <a:srgbClr val="546E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8E6227-2022-EC4B-B2E2-2DA8D6D34FE6}"/>
              </a:ext>
            </a:extLst>
          </p:cNvPr>
          <p:cNvSpPr txBox="1"/>
          <p:nvPr/>
        </p:nvSpPr>
        <p:spPr>
          <a:xfrm>
            <a:off x="8521700" y="3111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PostgreSQL (Production)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E5EF0FD-5BD2-0A49-BFE9-8E8FDFB26517}"/>
              </a:ext>
            </a:extLst>
          </p:cNvPr>
          <p:cNvSpPr/>
          <p:nvPr/>
        </p:nvSpPr>
        <p:spPr>
          <a:xfrm>
            <a:off x="8331200" y="4203700"/>
            <a:ext cx="101600" cy="101600"/>
          </a:xfrm>
          <a:prstGeom prst="ellipse">
            <a:avLst/>
          </a:prstGeom>
          <a:solidFill>
            <a:srgbClr val="546E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6FD1A2-F86B-F74F-BD9C-E978D6D1D72C}"/>
              </a:ext>
            </a:extLst>
          </p:cNvPr>
          <p:cNvSpPr txBox="1"/>
          <p:nvPr/>
        </p:nvSpPr>
        <p:spPr>
          <a:xfrm>
            <a:off x="8521700" y="4127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Hibernate ORM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1D16B55-503C-3242-B9B3-41FFD45D6546}"/>
              </a:ext>
            </a:extLst>
          </p:cNvPr>
          <p:cNvSpPr/>
          <p:nvPr/>
        </p:nvSpPr>
        <p:spPr>
          <a:xfrm>
            <a:off x="8331200" y="5219700"/>
            <a:ext cx="101600" cy="101600"/>
          </a:xfrm>
          <a:prstGeom prst="ellipse">
            <a:avLst/>
          </a:prstGeom>
          <a:solidFill>
            <a:srgbClr val="546E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C5DBB2-7B90-B543-85F2-2661B98AF672}"/>
              </a:ext>
            </a:extLst>
          </p:cNvPr>
          <p:cNvSpPr txBox="1"/>
          <p:nvPr/>
        </p:nvSpPr>
        <p:spPr>
          <a:xfrm>
            <a:off x="8521700" y="5143500"/>
            <a:ext cx="2730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4A4A4A"/>
                </a:solidFill>
                <a:latin typeface="Source Sans Pro"/>
                <a:ea typeface="Source Sans Pro"/>
              </a:rPr>
              <a:t>BCrypt Password Hashing</a:t>
            </a:r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19BCA209-327A-6441-8B7C-5D1D7DCCAA6A}"/>
              </a:ext>
            </a:extLst>
          </p:cNvPr>
          <p:cNvSpPr/>
          <p:nvPr/>
        </p:nvSpPr>
        <p:spPr>
          <a:xfrm>
            <a:off x="4203700" y="3556000"/>
            <a:ext cx="254000" cy="254000"/>
          </a:xfrm>
          <a:prstGeom prst="rightArrow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506EB46E-2BE4-C64B-B94E-5B8B35472910}"/>
              </a:ext>
            </a:extLst>
          </p:cNvPr>
          <p:cNvSpPr/>
          <p:nvPr/>
        </p:nvSpPr>
        <p:spPr>
          <a:xfrm>
            <a:off x="7861300" y="3556000"/>
            <a:ext cx="254000" cy="254000"/>
          </a:xfrm>
          <a:prstGeom prst="rightArrow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73F3999-4718-1B4A-AAD2-EE59B22611F2}"/>
              </a:ext>
            </a:extLst>
          </p:cNvPr>
          <p:cNvSpPr txBox="1"/>
          <p:nvPr/>
        </p:nvSpPr>
        <p:spPr>
          <a:xfrm>
            <a:off x="762000" y="6413500"/>
            <a:ext cx="635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78909C"/>
                </a:solidFill>
                <a:latin typeface="Source Sans Pro"/>
                <a:ea typeface="Source Sans Pro"/>
              </a:rPr>
              <a:t>Maven multi-module build: shared · server · client</a:t>
            </a:r>
          </a:p>
        </p:txBody>
      </p:sp>
      <p:pic>
        <p:nvPicPr>
          <p:cNvPr id="45" name="Graphic 45" descr="Presentation ti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4100" y="1384300"/>
            <a:ext cx="457200" cy="457200"/>
          </a:xfrm>
          <a:prstGeom prst="rect">
            <a:avLst/>
          </a:prstGeom>
        </p:spPr>
      </p:pic>
      <p:pic>
        <p:nvPicPr>
          <p:cNvPr id="46" name="Graphic 46" descr="Application ti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1700" y="1384300"/>
            <a:ext cx="457200" cy="457200"/>
          </a:xfrm>
          <a:prstGeom prst="rect">
            <a:avLst/>
          </a:prstGeom>
        </p:spPr>
      </p:pic>
      <p:pic>
        <p:nvPicPr>
          <p:cNvPr id="47" name="Graphic 47" descr="Data ti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9300" y="13843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5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8C3A4-14D6-314E-A9A0-FF0BCC3D5AE0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D04348-9EAA-A840-9509-0BE9B8E9EDE5}"/>
              </a:ext>
            </a:extLst>
          </p:cNvPr>
          <p:cNvSpPr txBox="1"/>
          <p:nvPr/>
        </p:nvSpPr>
        <p:spPr>
          <a:xfrm>
            <a:off x="762000" y="381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400" b="1">
                <a:solidFill>
                  <a:srgbClr val="2D2D2D"/>
                </a:solidFill>
                <a:latin typeface="Montserrat"/>
              </a:rPr>
              <a:t>Overall Solution — Key Features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5D1FE-EDBE-C544-9B77-42A00BFFF47E}"/>
              </a:ext>
            </a:extLst>
          </p:cNvPr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B720C1F-882E-3C4D-B95C-CC724BF78C74}"/>
              </a:ext>
            </a:extLst>
          </p:cNvPr>
          <p:cNvSpPr/>
          <p:nvPr/>
        </p:nvSpPr>
        <p:spPr>
          <a:xfrm>
            <a:off x="762000" y="12700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3F2FAC-D75C-174E-8B26-9F5B0CE90061}"/>
              </a:ext>
            </a:extLst>
          </p:cNvPr>
          <p:cNvSpPr/>
          <p:nvPr/>
        </p:nvSpPr>
        <p:spPr>
          <a:xfrm>
            <a:off x="762000" y="1270000"/>
            <a:ext cx="63500" cy="1524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6E4F27-80EF-C04A-8A59-E6385EFB563A}"/>
              </a:ext>
            </a:extLst>
          </p:cNvPr>
          <p:cNvSpPr txBox="1"/>
          <p:nvPr/>
        </p:nvSpPr>
        <p:spPr>
          <a:xfrm>
            <a:off x="990600" y="14224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Real-Time Messaging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6606B-E43A-964D-945E-60A474579790}"/>
              </a:ext>
            </a:extLst>
          </p:cNvPr>
          <p:cNvSpPr txBox="1"/>
          <p:nvPr/>
        </p:nvSpPr>
        <p:spPr>
          <a:xfrm>
            <a:off x="990600" y="18415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Public, private &amp; group chat with sub-second delivery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7F7605-973F-8F4C-8614-93B92124609E}"/>
              </a:ext>
            </a:extLst>
          </p:cNvPr>
          <p:cNvSpPr/>
          <p:nvPr/>
        </p:nvSpPr>
        <p:spPr>
          <a:xfrm>
            <a:off x="4419600" y="12700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D95CD-CA75-9842-9691-F0A346B62872}"/>
              </a:ext>
            </a:extLst>
          </p:cNvPr>
          <p:cNvSpPr/>
          <p:nvPr/>
        </p:nvSpPr>
        <p:spPr>
          <a:xfrm>
            <a:off x="4419600" y="1270000"/>
            <a:ext cx="63500" cy="1524000"/>
          </a:xfrm>
          <a:prstGeom prst="rect">
            <a:avLst/>
          </a:prstGeom>
          <a:solidFill>
            <a:srgbClr val="26A69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C44B28-5342-2A4B-941B-F2DD1E5158D5}"/>
              </a:ext>
            </a:extLst>
          </p:cNvPr>
          <p:cNvSpPr txBox="1"/>
          <p:nvPr/>
        </p:nvSpPr>
        <p:spPr>
          <a:xfrm>
            <a:off x="4648200" y="14224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Social Graph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601219-7023-BD4C-89CF-50037DE745A4}"/>
              </a:ext>
            </a:extLst>
          </p:cNvPr>
          <p:cNvSpPr txBox="1"/>
          <p:nvPr/>
        </p:nvSpPr>
        <p:spPr>
          <a:xfrm>
            <a:off x="4648200" y="18415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Friend requests, accept, remove, and block workflows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7E7CC0-1C3C-4B4D-93B3-6E909F23A4A0}"/>
              </a:ext>
            </a:extLst>
          </p:cNvPr>
          <p:cNvSpPr/>
          <p:nvPr/>
        </p:nvSpPr>
        <p:spPr>
          <a:xfrm>
            <a:off x="8077200" y="12700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EC017F-BA92-0F4C-89BF-021D49E52A6B}"/>
              </a:ext>
            </a:extLst>
          </p:cNvPr>
          <p:cNvSpPr/>
          <p:nvPr/>
        </p:nvSpPr>
        <p:spPr>
          <a:xfrm>
            <a:off x="8077200" y="1270000"/>
            <a:ext cx="63500" cy="1524000"/>
          </a:xfrm>
          <a:prstGeom prst="rect">
            <a:avLst/>
          </a:prstGeom>
          <a:solidFill>
            <a:srgbClr val="FF6F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2424B0-F13D-BD44-9454-80FBC704B8F5}"/>
              </a:ext>
            </a:extLst>
          </p:cNvPr>
          <p:cNvSpPr txBox="1"/>
          <p:nvPr/>
        </p:nvSpPr>
        <p:spPr>
          <a:xfrm>
            <a:off x="8305800" y="14224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Rich Media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2CD95-D8B7-304E-A1FF-22EEB45132F4}"/>
              </a:ext>
            </a:extLst>
          </p:cNvPr>
          <p:cNvSpPr txBox="1"/>
          <p:nvPr/>
        </p:nvSpPr>
        <p:spPr>
          <a:xfrm>
            <a:off x="8305800" y="18415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Emoji reactions, GIF search via Tenor API, image sharing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8E64FBF-389B-004E-9CB2-4015185BC66F}"/>
              </a:ext>
            </a:extLst>
          </p:cNvPr>
          <p:cNvSpPr/>
          <p:nvPr/>
        </p:nvSpPr>
        <p:spPr>
          <a:xfrm>
            <a:off x="762000" y="29718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FA588C-4BA4-3443-9F7D-2868E7AD3287}"/>
              </a:ext>
            </a:extLst>
          </p:cNvPr>
          <p:cNvSpPr/>
          <p:nvPr/>
        </p:nvSpPr>
        <p:spPr>
          <a:xfrm>
            <a:off x="762000" y="2971800"/>
            <a:ext cx="63500" cy="1524000"/>
          </a:xfrm>
          <a:prstGeom prst="rect">
            <a:avLst/>
          </a:prstGeom>
          <a:solidFill>
            <a:srgbClr val="546E7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6BBF0FF-B4B7-7647-9F3C-7CF52484D0B5}"/>
              </a:ext>
            </a:extLst>
          </p:cNvPr>
          <p:cNvSpPr txBox="1"/>
          <p:nvPr/>
        </p:nvSpPr>
        <p:spPr>
          <a:xfrm>
            <a:off x="990600" y="31242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Read Receipts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BC6866-717C-2244-B7B0-0A4EE0F65512}"/>
              </a:ext>
            </a:extLst>
          </p:cNvPr>
          <p:cNvSpPr txBox="1"/>
          <p:nvPr/>
        </p:nvSpPr>
        <p:spPr>
          <a:xfrm>
            <a:off x="990600" y="35433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Delivery confirmation with typing indicators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8459E9D-78AC-D943-9FB4-2A1EA866D32B}"/>
              </a:ext>
            </a:extLst>
          </p:cNvPr>
          <p:cNvSpPr/>
          <p:nvPr/>
        </p:nvSpPr>
        <p:spPr>
          <a:xfrm>
            <a:off x="4419600" y="29718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40C595-F302-8A42-AE3E-28B8437663A8}"/>
              </a:ext>
            </a:extLst>
          </p:cNvPr>
          <p:cNvSpPr/>
          <p:nvPr/>
        </p:nvSpPr>
        <p:spPr>
          <a:xfrm>
            <a:off x="4419600" y="2971800"/>
            <a:ext cx="63500" cy="1524000"/>
          </a:xfrm>
          <a:prstGeom prst="rect">
            <a:avLst/>
          </a:prstGeom>
          <a:solidFill>
            <a:srgbClr val="00BCD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752D76-4A6A-0E45-8019-AA2D4C0ADD3E}"/>
              </a:ext>
            </a:extLst>
          </p:cNvPr>
          <p:cNvSpPr txBox="1"/>
          <p:nvPr/>
        </p:nvSpPr>
        <p:spPr>
          <a:xfrm>
            <a:off x="4648200" y="31242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Cross-Platform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FC5F5C-39EE-DB40-A192-1842E8FD4A89}"/>
              </a:ext>
            </a:extLst>
          </p:cNvPr>
          <p:cNvSpPr txBox="1"/>
          <p:nvPr/>
        </p:nvSpPr>
        <p:spPr>
          <a:xfrm>
            <a:off x="4648200" y="35433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JavaFX desktop + web browser sharing the same backend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96B44E9-84E4-8A4C-B762-875D73EB5821}"/>
              </a:ext>
            </a:extLst>
          </p:cNvPr>
          <p:cNvSpPr/>
          <p:nvPr/>
        </p:nvSpPr>
        <p:spPr>
          <a:xfrm>
            <a:off x="8077200" y="29718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569804-0939-594B-9A4B-E7F4E8D553BE}"/>
              </a:ext>
            </a:extLst>
          </p:cNvPr>
          <p:cNvSpPr/>
          <p:nvPr/>
        </p:nvSpPr>
        <p:spPr>
          <a:xfrm>
            <a:off x="8077200" y="2971800"/>
            <a:ext cx="63500" cy="1524000"/>
          </a:xfrm>
          <a:prstGeom prst="rect">
            <a:avLst/>
          </a:prstGeom>
          <a:solidFill>
            <a:srgbClr val="78909C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60E649-6809-574A-9FAA-9D4112B105BA}"/>
              </a:ext>
            </a:extLst>
          </p:cNvPr>
          <p:cNvSpPr txBox="1"/>
          <p:nvPr/>
        </p:nvSpPr>
        <p:spPr>
          <a:xfrm>
            <a:off x="8305800" y="31242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Voice &amp; Video Calls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2D4706-B23F-3A40-88E2-020A9070FA67}"/>
              </a:ext>
            </a:extLst>
          </p:cNvPr>
          <p:cNvSpPr txBox="1"/>
          <p:nvPr/>
        </p:nvSpPr>
        <p:spPr>
          <a:xfrm>
            <a:off x="8305800" y="35433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WebRTC signalling for peer-to-peer communication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A132F98-14EB-4346-A913-0CB55810B25F}"/>
              </a:ext>
            </a:extLst>
          </p:cNvPr>
          <p:cNvSpPr/>
          <p:nvPr/>
        </p:nvSpPr>
        <p:spPr>
          <a:xfrm>
            <a:off x="762000" y="46736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923BC1D-742F-534B-83EA-E9A9B26ED336}"/>
              </a:ext>
            </a:extLst>
          </p:cNvPr>
          <p:cNvSpPr/>
          <p:nvPr/>
        </p:nvSpPr>
        <p:spPr>
          <a:xfrm>
            <a:off x="762000" y="4673600"/>
            <a:ext cx="63500" cy="1524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02004E-B1E3-544D-AECA-10E072024D00}"/>
              </a:ext>
            </a:extLst>
          </p:cNvPr>
          <p:cNvSpPr txBox="1"/>
          <p:nvPr/>
        </p:nvSpPr>
        <p:spPr>
          <a:xfrm>
            <a:off x="990600" y="4826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User Profiles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AEBBEA-DE45-1C47-A0B7-46452C59394E}"/>
              </a:ext>
            </a:extLst>
          </p:cNvPr>
          <p:cNvSpPr txBox="1"/>
          <p:nvPr/>
        </p:nvSpPr>
        <p:spPr>
          <a:xfrm>
            <a:off x="990600" y="52451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Status text, bio, avatar, display preferences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86E5030-AE63-A44C-B75F-C06795661AED}"/>
              </a:ext>
            </a:extLst>
          </p:cNvPr>
          <p:cNvSpPr/>
          <p:nvPr/>
        </p:nvSpPr>
        <p:spPr>
          <a:xfrm>
            <a:off x="4419600" y="46736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D1F46B0-841A-1C4C-8C0D-6AFF6BBF8BDC}"/>
              </a:ext>
            </a:extLst>
          </p:cNvPr>
          <p:cNvSpPr/>
          <p:nvPr/>
        </p:nvSpPr>
        <p:spPr>
          <a:xfrm>
            <a:off x="4419600" y="4673600"/>
            <a:ext cx="63500" cy="1524000"/>
          </a:xfrm>
          <a:prstGeom prst="rect">
            <a:avLst/>
          </a:prstGeom>
          <a:solidFill>
            <a:srgbClr val="26A69A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CD5E7B-1DFA-D842-A88B-2552E19EBBE7}"/>
              </a:ext>
            </a:extLst>
          </p:cNvPr>
          <p:cNvSpPr txBox="1"/>
          <p:nvPr/>
        </p:nvSpPr>
        <p:spPr>
          <a:xfrm>
            <a:off x="4648200" y="4826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Dark Mode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A34459-FA51-EF4A-9D55-E1A39A43813C}"/>
              </a:ext>
            </a:extLst>
          </p:cNvPr>
          <p:cNvSpPr txBox="1"/>
          <p:nvPr/>
        </p:nvSpPr>
        <p:spPr>
          <a:xfrm>
            <a:off x="4648200" y="52451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CSS theming with adjustable font sizes for accessibility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69B165A-E6E6-D14D-A983-26E8CC924CFB}"/>
              </a:ext>
            </a:extLst>
          </p:cNvPr>
          <p:cNvSpPr/>
          <p:nvPr/>
        </p:nvSpPr>
        <p:spPr>
          <a:xfrm>
            <a:off x="8077200" y="4673600"/>
            <a:ext cx="3429000" cy="1524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23447B-7CB5-474F-9549-3EA6A0DAE71E}"/>
              </a:ext>
            </a:extLst>
          </p:cNvPr>
          <p:cNvSpPr/>
          <p:nvPr/>
        </p:nvSpPr>
        <p:spPr>
          <a:xfrm>
            <a:off x="8077200" y="4673600"/>
            <a:ext cx="63500" cy="1524000"/>
          </a:xfrm>
          <a:prstGeom prst="rect">
            <a:avLst/>
          </a:prstGeom>
          <a:solidFill>
            <a:srgbClr val="FF6F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991FDE-45BD-1448-8FB9-A3614EFDDF28}"/>
              </a:ext>
            </a:extLst>
          </p:cNvPr>
          <p:cNvSpPr txBox="1"/>
          <p:nvPr/>
        </p:nvSpPr>
        <p:spPr>
          <a:xfrm>
            <a:off x="8305800" y="4826000"/>
            <a:ext cx="304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D2D2D"/>
                </a:solidFill>
                <a:latin typeface="Montserrat"/>
              </a:rPr>
              <a:t>Cloud Deployed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AA487B-5A0F-0F4C-8222-5266D6B22519}"/>
              </a:ext>
            </a:extLst>
          </p:cNvPr>
          <p:cNvSpPr txBox="1"/>
          <p:nvPr/>
        </p:nvSpPr>
        <p:spPr>
          <a:xfrm>
            <a:off x="8305800" y="5245100"/>
            <a:ext cx="3048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4A4A4A"/>
                </a:solidFill>
                <a:latin typeface="Source Sans Pro"/>
                <a:ea typeface="Source Sans Pro"/>
              </a:rPr>
              <a:t>Live on Microsoft Azure App Service with PostgreSQL</a:t>
            </a:r>
          </a:p>
        </p:txBody>
      </p:sp>
      <p:pic>
        <p:nvPicPr>
          <p:cNvPr id="42" name="Graphic 42" descr="Cha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4100" y="1333500"/>
            <a:ext cx="457200" cy="457200"/>
          </a:xfrm>
          <a:prstGeom prst="rect">
            <a:avLst/>
          </a:prstGeom>
        </p:spPr>
      </p:pic>
      <p:pic>
        <p:nvPicPr>
          <p:cNvPr id="43" name="Graphic 43" descr="Social graph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1700" y="1333500"/>
            <a:ext cx="457200" cy="457200"/>
          </a:xfrm>
          <a:prstGeom prst="rect">
            <a:avLst/>
          </a:prstGeom>
        </p:spPr>
      </p:pic>
      <p:pic>
        <p:nvPicPr>
          <p:cNvPr id="44" name="Graphic 44" descr="Rich media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09300" y="1333500"/>
            <a:ext cx="457200" cy="457200"/>
          </a:xfrm>
          <a:prstGeom prst="rect">
            <a:avLst/>
          </a:prstGeom>
        </p:spPr>
      </p:pic>
      <p:pic>
        <p:nvPicPr>
          <p:cNvPr id="45" name="Graphic 45" descr="Read receipt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4100" y="3035300"/>
            <a:ext cx="457200" cy="457200"/>
          </a:xfrm>
          <a:prstGeom prst="rect">
            <a:avLst/>
          </a:prstGeom>
        </p:spPr>
      </p:pic>
      <p:pic>
        <p:nvPicPr>
          <p:cNvPr id="46" name="Graphic 46" descr="Cross-platform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51700" y="3035300"/>
            <a:ext cx="457200" cy="457200"/>
          </a:xfrm>
          <a:prstGeom prst="rect">
            <a:avLst/>
          </a:prstGeom>
        </p:spPr>
      </p:pic>
      <p:pic>
        <p:nvPicPr>
          <p:cNvPr id="47" name="Graphic 47" descr="Video ca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09300" y="3035300"/>
            <a:ext cx="457200" cy="457200"/>
          </a:xfrm>
          <a:prstGeom prst="rect">
            <a:avLst/>
          </a:prstGeom>
        </p:spPr>
      </p:pic>
      <p:pic>
        <p:nvPicPr>
          <p:cNvPr id="48" name="Graphic 48" descr="User profi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94100" y="4737100"/>
            <a:ext cx="457200" cy="457200"/>
          </a:xfrm>
          <a:prstGeom prst="rect">
            <a:avLst/>
          </a:prstGeom>
        </p:spPr>
      </p:pic>
      <p:pic>
        <p:nvPicPr>
          <p:cNvPr id="49" name="Graphic 49" descr="Dark mod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51700" y="4737100"/>
            <a:ext cx="457200" cy="457200"/>
          </a:xfrm>
          <a:prstGeom prst="rect">
            <a:avLst/>
          </a:prstGeom>
        </p:spPr>
      </p:pic>
      <p:pic>
        <p:nvPicPr>
          <p:cNvPr id="50" name="Graphic 50" descr="Cloud deploy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09300" y="4737100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614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F626E1-B44D-B644-925E-6C619A03A048}"/>
              </a:ext>
            </a:extLst>
          </p:cNvPr>
          <p:cNvSpPr/>
          <p:nvPr/>
        </p:nvSpPr>
        <p:spPr>
          <a:xfrm>
            <a:off x="0" y="0"/>
            <a:ext cx="121793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4735A-01AF-D34F-B821-E21AE0201961}"/>
              </a:ext>
            </a:extLst>
          </p:cNvPr>
          <p:cNvSpPr txBox="1"/>
          <p:nvPr/>
        </p:nvSpPr>
        <p:spPr>
          <a:xfrm>
            <a:off x="762000" y="2159000"/>
            <a:ext cx="106553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5200" b="1" dirty="0">
                <a:solidFill>
                  <a:srgbClr val="FFFFFF"/>
                </a:solidFill>
                <a:latin typeface="Montserrat"/>
              </a:rPr>
              <a:t>Live Demo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462FE2-F9C6-5545-B940-426BD2EB66DB}"/>
              </a:ext>
            </a:extLst>
          </p:cNvPr>
          <p:cNvSpPr txBox="1"/>
          <p:nvPr/>
        </p:nvSpPr>
        <p:spPr>
          <a:xfrm>
            <a:off x="762000" y="3302000"/>
            <a:ext cx="106553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2200" i="1" dirty="0">
                <a:solidFill>
                  <a:srgbClr val="E0F7FA"/>
                </a:solidFill>
                <a:latin typeface="Source Sans Pro"/>
              </a:rPr>
              <a:t>A walkthrough of ChitChat's core features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6B44CF-9407-2E46-8224-E6DB5CCE82AC}"/>
              </a:ext>
            </a:extLst>
          </p:cNvPr>
          <p:cNvSpPr/>
          <p:nvPr/>
        </p:nvSpPr>
        <p:spPr>
          <a:xfrm>
            <a:off x="4826000" y="4064000"/>
            <a:ext cx="2540000" cy="25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9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D73B53-363C-1643-ABD0-DEC29024508B}"/>
              </a:ext>
            </a:extLst>
          </p:cNvPr>
          <p:cNvSpPr/>
          <p:nvPr/>
        </p:nvSpPr>
        <p:spPr>
          <a:xfrm>
            <a:off x="0" y="0"/>
            <a:ext cx="12179300" cy="1143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D1F8B-8310-E640-B548-401E83D7A648}"/>
              </a:ext>
            </a:extLst>
          </p:cNvPr>
          <p:cNvSpPr txBox="1"/>
          <p:nvPr/>
        </p:nvSpPr>
        <p:spPr>
          <a:xfrm>
            <a:off x="762000" y="101600"/>
            <a:ext cx="6350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Montserrat"/>
              </a:rPr>
              <a:t>Live Demo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9D78A8-730B-A444-974A-4E015E4C6EC0}"/>
              </a:ext>
            </a:extLst>
          </p:cNvPr>
          <p:cNvSpPr txBox="1"/>
          <p:nvPr/>
        </p:nvSpPr>
        <p:spPr>
          <a:xfrm>
            <a:off x="762000" y="6604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E0F7FA"/>
                </a:solidFill>
                <a:latin typeface="Source Sans Pro"/>
                <a:ea typeface="Source Sans Pro"/>
              </a:rPr>
              <a:t>https://chitchat-dwhqarhneuf7grb8.canadacentral-01.azurewebsites.net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0EF1150-F873-0F4D-8AD9-117B69634176}"/>
              </a:ext>
            </a:extLst>
          </p:cNvPr>
          <p:cNvSpPr/>
          <p:nvPr/>
        </p:nvSpPr>
        <p:spPr>
          <a:xfrm>
            <a:off x="508000" y="1270000"/>
            <a:ext cx="11163300" cy="3937000"/>
          </a:xfrm>
          <a:prstGeom prst="roundRect">
            <a:avLst/>
          </a:prstGeom>
          <a:solidFill>
            <a:srgbClr val="E0E0E0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78B42C-D24F-974E-A4FE-210839AD1FC4}"/>
              </a:ext>
            </a:extLst>
          </p:cNvPr>
          <p:cNvSpPr/>
          <p:nvPr/>
        </p:nvSpPr>
        <p:spPr>
          <a:xfrm>
            <a:off x="5588000" y="2794000"/>
            <a:ext cx="1016000" cy="1016000"/>
          </a:xfrm>
          <a:prstGeom prst="ellipse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270361F1-26B9-304D-B019-C6ACB4B02EB7}"/>
              </a:ext>
            </a:extLst>
          </p:cNvPr>
          <p:cNvSpPr/>
          <p:nvPr/>
        </p:nvSpPr>
        <p:spPr>
          <a:xfrm rot="5400000">
            <a:off x="5867400" y="3048000"/>
            <a:ext cx="457200" cy="508000"/>
          </a:xfrm>
          <a:prstGeom prst="triangle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B9B47C-8342-3340-8AB9-CF03AB02821F}"/>
              </a:ext>
            </a:extLst>
          </p:cNvPr>
          <p:cNvSpPr txBox="1"/>
          <p:nvPr/>
        </p:nvSpPr>
        <p:spPr>
          <a:xfrm>
            <a:off x="3810000" y="3873500"/>
            <a:ext cx="457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78909C"/>
                </a:solidFill>
                <a:latin typeface="Montserrat"/>
              </a:rPr>
              <a:t>Full Feature Walkthrough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BB6C7E-BF08-2C46-9CF9-7B7C478ADF48}"/>
              </a:ext>
            </a:extLst>
          </p:cNvPr>
          <p:cNvSpPr txBox="1"/>
          <p:nvPr/>
        </p:nvSpPr>
        <p:spPr>
          <a:xfrm>
            <a:off x="825500" y="53721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Montserrat"/>
              </a:rPr>
              <a:t>Features Covered: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7093EEE-F67C-C746-80C4-19169FEAB601}"/>
              </a:ext>
            </a:extLst>
          </p:cNvPr>
          <p:cNvSpPr/>
          <p:nvPr/>
        </p:nvSpPr>
        <p:spPr>
          <a:xfrm>
            <a:off x="825500" y="5753100"/>
            <a:ext cx="1651000" cy="406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097A7"/>
                </a:solidFill>
                <a:latin typeface="Source Sans Pro"/>
                <a:ea typeface="Source Sans Pro"/>
              </a:rPr>
              <a:t>Register &amp; Login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81DD30A-C72D-F041-89D2-9A13AE510D48}"/>
              </a:ext>
            </a:extLst>
          </p:cNvPr>
          <p:cNvSpPr/>
          <p:nvPr/>
        </p:nvSpPr>
        <p:spPr>
          <a:xfrm>
            <a:off x="2603500" y="5753100"/>
            <a:ext cx="1651000" cy="406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097A7"/>
                </a:solidFill>
                <a:latin typeface="Source Sans Pro"/>
                <a:ea typeface="Source Sans Pro"/>
              </a:rPr>
              <a:t>Public Chat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8306993-F82A-0D40-8AFD-1DECF1560A1A}"/>
              </a:ext>
            </a:extLst>
          </p:cNvPr>
          <p:cNvSpPr/>
          <p:nvPr/>
        </p:nvSpPr>
        <p:spPr>
          <a:xfrm>
            <a:off x="4381500" y="5753100"/>
            <a:ext cx="1651000" cy="406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097A7"/>
                </a:solidFill>
                <a:latin typeface="Source Sans Pro"/>
                <a:ea typeface="Source Sans Pro"/>
              </a:rPr>
              <a:t>Private DM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EDBF054-85FC-5347-A241-8FABA56A3131}"/>
              </a:ext>
            </a:extLst>
          </p:cNvPr>
          <p:cNvSpPr/>
          <p:nvPr/>
        </p:nvSpPr>
        <p:spPr>
          <a:xfrm>
            <a:off x="6159500" y="5753100"/>
            <a:ext cx="1651000" cy="406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097A7"/>
                </a:solidFill>
                <a:latin typeface="Source Sans Pro"/>
                <a:ea typeface="Source Sans Pro"/>
              </a:rPr>
              <a:t>Group Rooms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039C240-3825-234A-A73F-5451ED2454F4}"/>
              </a:ext>
            </a:extLst>
          </p:cNvPr>
          <p:cNvSpPr/>
          <p:nvPr/>
        </p:nvSpPr>
        <p:spPr>
          <a:xfrm>
            <a:off x="7937500" y="5753100"/>
            <a:ext cx="1651000" cy="406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097A7"/>
                </a:solidFill>
                <a:latin typeface="Source Sans Pro"/>
                <a:ea typeface="Source Sans Pro"/>
              </a:rPr>
              <a:t>GIFs &amp; Reactions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6BBC96-4591-8548-B72E-9EC810460091}"/>
              </a:ext>
            </a:extLst>
          </p:cNvPr>
          <p:cNvSpPr/>
          <p:nvPr/>
        </p:nvSpPr>
        <p:spPr>
          <a:xfrm>
            <a:off x="9715500" y="5753100"/>
            <a:ext cx="1651000" cy="4064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0097A7"/>
                </a:solidFill>
                <a:latin typeface="Source Sans Pro"/>
                <a:ea typeface="Source Sans Pro"/>
              </a:rPr>
              <a:t>Dark Mode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6528A0-D5E1-2146-8480-DBD803109F37}"/>
              </a:ext>
            </a:extLst>
          </p:cNvPr>
          <p:cNvSpPr txBox="1"/>
          <p:nvPr/>
        </p:nvSpPr>
        <p:spPr>
          <a:xfrm>
            <a:off x="1778000" y="6286500"/>
            <a:ext cx="863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78909C"/>
                </a:solidFill>
                <a:latin typeface="Source Sans Pro"/>
                <a:ea typeface="Source Sans Pro"/>
              </a:rPr>
              <a:t>Web browser + JavaFX desktop client sharing the same Spring Boot backend</a:t>
            </a:r>
          </a:p>
        </p:txBody>
      </p:sp>
    </p:spTree>
    <p:extLst>
      <p:ext uri="{BB962C8B-B14F-4D97-AF65-F5344CB8AC3E}">
        <p14:creationId xmlns:p14="http://schemas.microsoft.com/office/powerpoint/2010/main" val="25532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A75E561-AE84-9D49-9F08-C9166995D13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31186D-F0A6-9448-AF4D-0BC31B592E60}"/>
              </a:ext>
            </a:extLst>
          </p:cNvPr>
          <p:cNvSpPr txBox="1"/>
          <p:nvPr/>
        </p:nvSpPr>
        <p:spPr>
          <a:xfrm>
            <a:off x="762000" y="381000"/>
            <a:ext cx="1092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400" b="1">
                <a:solidFill>
                  <a:srgbClr val="2D2D2D"/>
                </a:solidFill>
                <a:latin typeface="Montserrat"/>
              </a:rPr>
              <a:t>Challenges &amp; Lessons Learned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4C6291-C089-3646-9D5C-138AE0A301B0}"/>
              </a:ext>
            </a:extLst>
          </p:cNvPr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2593EB-6E51-FE46-8ECE-663B4830989E}"/>
              </a:ext>
            </a:extLst>
          </p:cNvPr>
          <p:cNvSpPr/>
          <p:nvPr/>
        </p:nvSpPr>
        <p:spPr>
          <a:xfrm>
            <a:off x="762000" y="1270000"/>
            <a:ext cx="5334000" cy="5080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6A4570-8094-5343-B403-8DB720E31272}"/>
              </a:ext>
            </a:extLst>
          </p:cNvPr>
          <p:cNvSpPr/>
          <p:nvPr/>
        </p:nvSpPr>
        <p:spPr>
          <a:xfrm>
            <a:off x="762000" y="1270000"/>
            <a:ext cx="5334000" cy="63500"/>
          </a:xfrm>
          <a:prstGeom prst="rect">
            <a:avLst/>
          </a:prstGeom>
          <a:solidFill>
            <a:srgbClr val="FF6F61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27061-FF49-5648-BE1C-0D259249D385}"/>
              </a:ext>
            </a:extLst>
          </p:cNvPr>
          <p:cNvSpPr txBox="1"/>
          <p:nvPr/>
        </p:nvSpPr>
        <p:spPr>
          <a:xfrm>
            <a:off x="990600" y="14605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FF6F61"/>
                </a:solidFill>
                <a:latin typeface="Montserrat"/>
              </a:rPr>
              <a:t>Challenges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3D6D0C-5450-5840-8A96-7DEF690B9025}"/>
              </a:ext>
            </a:extLst>
          </p:cNvPr>
          <p:cNvSpPr txBox="1"/>
          <p:nvPr/>
        </p:nvSpPr>
        <p:spPr>
          <a:xfrm>
            <a:off x="990600" y="1968500"/>
            <a:ext cx="4889500" cy="419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WebSocket reliability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STOMP reconnection and message ordering under network instability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Cross-platform parity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keeping JavaFX desktop and web clients in sync with one backend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Cloud deployment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migrating from MySQL to PostgreSQL on Azure App Service + GitHub Actions CI/CD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WebRTC integration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NAT traversal and STUN/TURN server configuration for voice calls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Maven multi-module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managing shared dependencies across server, client, and shared modules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FDA6E05-C5BE-5648-B8BF-D60B3610F468}"/>
              </a:ext>
            </a:extLst>
          </p:cNvPr>
          <p:cNvSpPr/>
          <p:nvPr/>
        </p:nvSpPr>
        <p:spPr>
          <a:xfrm>
            <a:off x="6413500" y="1270000"/>
            <a:ext cx="5334000" cy="5080000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5F40D1-680D-5A46-913E-5C55C99591BE}"/>
              </a:ext>
            </a:extLst>
          </p:cNvPr>
          <p:cNvSpPr/>
          <p:nvPr/>
        </p:nvSpPr>
        <p:spPr>
          <a:xfrm>
            <a:off x="6413500" y="1270000"/>
            <a:ext cx="5334000" cy="635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0307D-5159-6044-BD76-714AAFA637DC}"/>
              </a:ext>
            </a:extLst>
          </p:cNvPr>
          <p:cNvSpPr txBox="1"/>
          <p:nvPr/>
        </p:nvSpPr>
        <p:spPr>
          <a:xfrm>
            <a:off x="6642100" y="1460500"/>
            <a:ext cx="48260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200" b="1">
                <a:solidFill>
                  <a:srgbClr val="0097A7"/>
                </a:solidFill>
                <a:latin typeface="Montserrat"/>
              </a:rPr>
              <a:t>Lessons Learned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ED9CF8-E86E-6641-B89C-1E5D2AA863B3}"/>
              </a:ext>
            </a:extLst>
          </p:cNvPr>
          <p:cNvSpPr txBox="1"/>
          <p:nvPr/>
        </p:nvSpPr>
        <p:spPr>
          <a:xfrm>
            <a:off x="6642100" y="1968500"/>
            <a:ext cx="4889500" cy="419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Start simple, iterate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MVP-first approach let us ship early and add features incrementally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Interface-driven design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shared contracts between client and server prevented integration bugs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Test in production early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deploying to Azure from week 1 caught environment-specific issues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Clear role ownership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each member owned a layer, reducing merge conflicts and bottlenecks</a:t>
            </a:r>
          </a:p>
          <a:p>
            <a:pPr algn="l">
              <a:spcBef>
                <a:spcPts val="300"/>
              </a:spcBef>
              <a:buFont typeface="Arial"/>
              <a:buChar char="▸"/>
            </a:pPr>
            <a:r>
              <a:rPr lang="en-US" sz="1400" b="1" dirty="0">
                <a:solidFill>
                  <a:srgbClr val="2D2D2D"/>
                </a:solidFill>
                <a:latin typeface="Source Sans Pro"/>
              </a:rPr>
              <a:t>Documentation matters</a:t>
            </a:r>
            <a:r>
              <a:rPr lang="en-US" sz="1400" dirty="0">
                <a:solidFill>
                  <a:srgbClr val="4A4A4A"/>
                </a:solidFill>
                <a:latin typeface="Source Sans Pro"/>
              </a:rPr>
              <a:t> — maintaining API docs and user guides saved onboarding time for all members</a:t>
            </a:r>
          </a:p>
        </p:txBody>
      </p:sp>
      <p:pic>
        <p:nvPicPr>
          <p:cNvPr id="14" name="Graphic 14" descr="Challeng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35600" y="1397000"/>
            <a:ext cx="508000" cy="508000"/>
          </a:xfrm>
          <a:prstGeom prst="rect">
            <a:avLst/>
          </a:prstGeom>
        </p:spPr>
      </p:pic>
      <p:pic>
        <p:nvPicPr>
          <p:cNvPr id="15" name="Graphic 15" descr="Lessons learne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7100" y="1397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54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5F1A9B5-FF7B-E441-83A9-603A1B11EFB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E582E4-98E7-924B-A3A0-77F67AE2A928}"/>
              </a:ext>
            </a:extLst>
          </p:cNvPr>
          <p:cNvSpPr txBox="1"/>
          <p:nvPr/>
        </p:nvSpPr>
        <p:spPr>
          <a:xfrm>
            <a:off x="762000" y="381000"/>
            <a:ext cx="10160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600" b="1">
                <a:solidFill>
                  <a:srgbClr val="2D2D2D"/>
                </a:solidFill>
                <a:latin typeface="Montserrat"/>
              </a:rPr>
              <a:t>References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AC42B5-C6B3-404E-9324-8B74775258C5}"/>
              </a:ext>
            </a:extLst>
          </p:cNvPr>
          <p:cNvSpPr/>
          <p:nvPr/>
        </p:nvSpPr>
        <p:spPr>
          <a:xfrm>
            <a:off x="762000" y="1041400"/>
            <a:ext cx="1524000" cy="381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A14B2A-0D3F-8D45-87F1-2DE4F2AD59ED}"/>
              </a:ext>
            </a:extLst>
          </p:cNvPr>
          <p:cNvSpPr txBox="1"/>
          <p:nvPr/>
        </p:nvSpPr>
        <p:spPr>
          <a:xfrm>
            <a:off x="762000" y="1270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[1]  Spring Boot 3.4.3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F630A-0AB3-124C-AD4D-46A11DC32CF3}"/>
              </a:ext>
            </a:extLst>
          </p:cNvPr>
          <p:cNvSpPr txBox="1"/>
          <p:nvPr/>
        </p:nvSpPr>
        <p:spPr>
          <a:xfrm>
            <a:off x="1117600" y="15240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docs.spring.io/spring-boot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69119-1AB0-C248-B41D-E3866449185E}"/>
              </a:ext>
            </a:extLst>
          </p:cNvPr>
          <p:cNvSpPr txBox="1"/>
          <p:nvPr/>
        </p:nvSpPr>
        <p:spPr>
          <a:xfrm>
            <a:off x="6477000" y="12700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[2]  JavaFX 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46AF94-08EF-724B-BC3A-CC631AFEF589}"/>
              </a:ext>
            </a:extLst>
          </p:cNvPr>
          <p:cNvSpPr txBox="1"/>
          <p:nvPr/>
        </p:nvSpPr>
        <p:spPr>
          <a:xfrm>
            <a:off x="6832600" y="15240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openjfx.io/javadoc/21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F7E5AC-23CB-A44E-9871-D250F334C803}"/>
              </a:ext>
            </a:extLst>
          </p:cNvPr>
          <p:cNvSpPr txBox="1"/>
          <p:nvPr/>
        </p:nvSpPr>
        <p:spPr>
          <a:xfrm>
            <a:off x="762000" y="1828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[3]  STOMP Protocol v1.2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0DD038-849F-9846-9354-4D8AA307E391}"/>
              </a:ext>
            </a:extLst>
          </p:cNvPr>
          <p:cNvSpPr txBox="1"/>
          <p:nvPr/>
        </p:nvSpPr>
        <p:spPr>
          <a:xfrm>
            <a:off x="1117600" y="20828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stomp.github.io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1853C6-365C-2B40-A033-AABC89D7FE26}"/>
              </a:ext>
            </a:extLst>
          </p:cNvPr>
          <p:cNvSpPr txBox="1"/>
          <p:nvPr/>
        </p:nvSpPr>
        <p:spPr>
          <a:xfrm>
            <a:off x="6477000" y="1828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[4]  OkHttp3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5D6189-8036-5348-84F3-8DB545B85900}"/>
              </a:ext>
            </a:extLst>
          </p:cNvPr>
          <p:cNvSpPr txBox="1"/>
          <p:nvPr/>
        </p:nvSpPr>
        <p:spPr>
          <a:xfrm>
            <a:off x="6832600" y="20828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square.github.io/okhttp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95C257-93AC-5A45-87B6-2FEADBE52747}"/>
              </a:ext>
            </a:extLst>
          </p:cNvPr>
          <p:cNvSpPr txBox="1"/>
          <p:nvPr/>
        </p:nvSpPr>
        <p:spPr>
          <a:xfrm>
            <a:off x="762000" y="2387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[5]  Jackson Databind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D22DF9-3848-1445-8732-0E2907C1F41D}"/>
              </a:ext>
            </a:extLst>
          </p:cNvPr>
          <p:cNvSpPr txBox="1"/>
          <p:nvPr/>
        </p:nvSpPr>
        <p:spPr>
          <a:xfrm>
            <a:off x="1117600" y="26416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github.com/FasterXML/jackson-docs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B72BBA-02E2-8B4A-8213-18E671BC89F5}"/>
              </a:ext>
            </a:extLst>
          </p:cNvPr>
          <p:cNvSpPr txBox="1"/>
          <p:nvPr/>
        </p:nvSpPr>
        <p:spPr>
          <a:xfrm>
            <a:off x="6477000" y="2387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[6]  Tenor GIF API v2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A2B65D-4B88-3F41-9715-D772BC9ACA92}"/>
              </a:ext>
            </a:extLst>
          </p:cNvPr>
          <p:cNvSpPr txBox="1"/>
          <p:nvPr/>
        </p:nvSpPr>
        <p:spPr>
          <a:xfrm>
            <a:off x="6832600" y="26416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developers.google.com/tenor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214DAF-4DD1-F446-B741-CEB001869132}"/>
              </a:ext>
            </a:extLst>
          </p:cNvPr>
          <p:cNvSpPr txBox="1"/>
          <p:nvPr/>
        </p:nvSpPr>
        <p:spPr>
          <a:xfrm>
            <a:off x="762000" y="2946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[7]  Microsoft Azure App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BBF845-8083-5D40-8446-8AFF42BAC6A5}"/>
              </a:ext>
            </a:extLst>
          </p:cNvPr>
          <p:cNvSpPr txBox="1"/>
          <p:nvPr/>
        </p:nvSpPr>
        <p:spPr>
          <a:xfrm>
            <a:off x="1117600" y="32004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learn.microsoft.com/azure/app-service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DC6FA0C-08EB-114C-AAB8-8BFA79662DB4}"/>
              </a:ext>
            </a:extLst>
          </p:cNvPr>
          <p:cNvSpPr txBox="1"/>
          <p:nvPr/>
        </p:nvSpPr>
        <p:spPr>
          <a:xfrm>
            <a:off x="6477000" y="29464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[8]  BCrypt — Provos &amp; Mazières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123743-CBB2-F447-9898-4595A57F0FA2}"/>
              </a:ext>
            </a:extLst>
          </p:cNvPr>
          <p:cNvSpPr txBox="1"/>
          <p:nvPr/>
        </p:nvSpPr>
        <p:spPr>
          <a:xfrm>
            <a:off x="6832600" y="32004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usenix.org/legacy/events/usenix99/provos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0F5824-3702-044B-8F3D-7AE76FF6F904}"/>
              </a:ext>
            </a:extLst>
          </p:cNvPr>
          <p:cNvSpPr txBox="1"/>
          <p:nvPr/>
        </p:nvSpPr>
        <p:spPr>
          <a:xfrm>
            <a:off x="762000" y="3505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[9]  WebRTC 1.0 Spec (W3C)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04238E-BF4D-7C4E-8C5D-CB04D24EA9F1}"/>
              </a:ext>
            </a:extLst>
          </p:cNvPr>
          <p:cNvSpPr txBox="1"/>
          <p:nvPr/>
        </p:nvSpPr>
        <p:spPr>
          <a:xfrm>
            <a:off x="1117600" y="37592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w3.org/TR/webrtc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B07DD1-3CE1-7B4A-9958-9C2FBDD7AD9A}"/>
              </a:ext>
            </a:extLst>
          </p:cNvPr>
          <p:cNvSpPr txBox="1"/>
          <p:nvPr/>
        </p:nvSpPr>
        <p:spPr>
          <a:xfrm>
            <a:off x="6477000" y="35052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D2D2D"/>
                </a:solidFill>
                <a:latin typeface="Source Sans Pro"/>
                <a:ea typeface="Source Sans Pro"/>
              </a:rPr>
              <a:t>[10]  Apache Maven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D2B6FB-1BFF-7D47-AC45-FF1FAFD7D390}"/>
              </a:ext>
            </a:extLst>
          </p:cNvPr>
          <p:cNvSpPr txBox="1"/>
          <p:nvPr/>
        </p:nvSpPr>
        <p:spPr>
          <a:xfrm>
            <a:off x="6832600" y="3759200"/>
            <a:ext cx="4978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0097A7"/>
                </a:solidFill>
                <a:latin typeface="Source Sans Pro"/>
                <a:ea typeface="Source Sans Pro"/>
              </a:rPr>
              <a:t>maven.apache.org/guides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3D365C-D903-6448-8532-1660FE38B963}"/>
              </a:ext>
            </a:extLst>
          </p:cNvPr>
          <p:cNvSpPr txBox="1"/>
          <p:nvPr/>
        </p:nvSpPr>
        <p:spPr>
          <a:xfrm>
            <a:off x="762000" y="40640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78909C"/>
                </a:solidFill>
                <a:latin typeface="Source Sans Pro"/>
                <a:ea typeface="Source Sans Pro"/>
              </a:rPr>
              <a:t>[11]  Hibernate ORM 6.x  ·  [12]  Spring Security BCrypt  ·  [13]  GitHub Actions  ·  [14]  IntelliJ IDEA  ·  [15]  Java Module System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9B32F7-3D5A-4745-A928-BC403F151A57}"/>
              </a:ext>
            </a:extLst>
          </p:cNvPr>
          <p:cNvSpPr txBox="1"/>
          <p:nvPr/>
        </p:nvSpPr>
        <p:spPr>
          <a:xfrm>
            <a:off x="762000" y="48260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78909C"/>
                </a:solidFill>
                <a:latin typeface="Source Sans Pro"/>
                <a:ea typeface="Source Sans Pro"/>
              </a:rPr>
              <a:t>All references accessed March 2026</a:t>
            </a:r>
          </a:p>
        </p:txBody>
      </p:sp>
    </p:spTree>
    <p:extLst>
      <p:ext uri="{BB962C8B-B14F-4D97-AF65-F5344CB8AC3E}">
        <p14:creationId xmlns:p14="http://schemas.microsoft.com/office/powerpoint/2010/main" val="2340971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0129AB-F1D6-F047-A171-C3AB711D3CB0}"/>
              </a:ext>
            </a:extLst>
          </p:cNvPr>
          <p:cNvSpPr/>
          <p:nvPr/>
        </p:nvSpPr>
        <p:spPr>
          <a:xfrm>
            <a:off x="0" y="762000"/>
            <a:ext cx="12179300" cy="29210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25B83-052F-E24D-91B0-A066C6B350D1}"/>
              </a:ext>
            </a:extLst>
          </p:cNvPr>
          <p:cNvSpPr txBox="1"/>
          <p:nvPr/>
        </p:nvSpPr>
        <p:spPr>
          <a:xfrm>
            <a:off x="762000" y="952500"/>
            <a:ext cx="1066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5200" b="1">
                <a:solidFill>
                  <a:srgbClr val="FFFFFF"/>
                </a:solidFill>
                <a:latin typeface="Montserrat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550422-1F2D-A049-B45E-5AC095761EBB}"/>
              </a:ext>
            </a:extLst>
          </p:cNvPr>
          <p:cNvSpPr txBox="1"/>
          <p:nvPr/>
        </p:nvSpPr>
        <p:spPr>
          <a:xfrm>
            <a:off x="762000" y="19685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3200" i="1">
                <a:solidFill>
                  <a:srgbClr val="B2EBF2"/>
                </a:solidFill>
                <a:latin typeface="Source Sans Pro"/>
                <a:ea typeface="Source Sans Pro"/>
              </a:rPr>
              <a:t>Questions?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B12EAC-C120-A24E-B5C0-3F33957D4DFF}"/>
              </a:ext>
            </a:extLst>
          </p:cNvPr>
          <p:cNvSpPr txBox="1"/>
          <p:nvPr/>
        </p:nvSpPr>
        <p:spPr>
          <a:xfrm>
            <a:off x="1651000" y="27305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E0F7FA"/>
                </a:solidFill>
                <a:latin typeface="Source Sans Pro"/>
                <a:ea typeface="Source Sans Pro"/>
              </a:rPr>
              <a:t>ChitChat  —  Group 7  —  COMP.2800  —  Winter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778546-0371-244B-99DD-D4E9E7135F02}"/>
              </a:ext>
            </a:extLst>
          </p:cNvPr>
          <p:cNvSpPr/>
          <p:nvPr/>
        </p:nvSpPr>
        <p:spPr>
          <a:xfrm>
            <a:off x="4826000" y="4064000"/>
            <a:ext cx="2540000" cy="25400"/>
          </a:xfrm>
          <a:prstGeom prst="rect">
            <a:avLst/>
          </a:prstGeom>
          <a:solidFill>
            <a:srgbClr val="0097A7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45741E-F50C-5B43-BFDF-D0C74A3E0EB8}"/>
              </a:ext>
            </a:extLst>
          </p:cNvPr>
          <p:cNvSpPr txBox="1"/>
          <p:nvPr/>
        </p:nvSpPr>
        <p:spPr>
          <a:xfrm>
            <a:off x="1651000" y="44450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rgbClr val="4A4A4A"/>
                </a:solidFill>
                <a:latin typeface="Montserrat"/>
              </a:rPr>
              <a:t>Live App:  </a:t>
            </a:r>
            <a:r>
              <a:rPr lang="en-US" sz="1700" dirty="0">
                <a:solidFill>
                  <a:srgbClr val="0097A7"/>
                </a:solidFill>
                <a:latin typeface="Source Sans Pro"/>
              </a:rPr>
              <a:t>https://chitchat-dwhqarhneuf7grb8.canadacentral-01.azurewebsites.net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CB173F-CE1C-1E46-AA45-A1290C96D22D}"/>
              </a:ext>
            </a:extLst>
          </p:cNvPr>
          <p:cNvSpPr txBox="1"/>
          <p:nvPr/>
        </p:nvSpPr>
        <p:spPr>
          <a:xfrm>
            <a:off x="1651000" y="4889500"/>
            <a:ext cx="889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500" b="1" dirty="0">
                <a:solidFill>
                  <a:srgbClr val="4A4A4A"/>
                </a:solidFill>
                <a:latin typeface="Montserrat"/>
              </a:rPr>
              <a:t>Source Code:  </a:t>
            </a:r>
            <a:r>
              <a:rPr lang="en-US" sz="1700" dirty="0">
                <a:solidFill>
                  <a:srgbClr val="0097A7"/>
                </a:solidFill>
                <a:latin typeface="Source Sans Pro"/>
              </a:rPr>
              <a:t>github.com/dmandaliya/ChitChat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EFB2C3-6111-414A-B551-F6ACB8A6AF33}"/>
              </a:ext>
            </a:extLst>
          </p:cNvPr>
          <p:cNvSpPr txBox="1"/>
          <p:nvPr/>
        </p:nvSpPr>
        <p:spPr>
          <a:xfrm>
            <a:off x="1270000" y="5588000"/>
            <a:ext cx="965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4A4A4A"/>
                </a:solidFill>
                <a:latin typeface="Source Sans Pro"/>
                <a:ea typeface="Source Sans Pro"/>
              </a:rPr>
              <a:t>Deep Mandaliya  ·  Ayden Sendrea  ·  Asma Mohamed  ·  Stephen-Caleb Fallon</a:t>
            </a:r>
          </a:p>
        </p:txBody>
      </p:sp>
    </p:spTree>
    <p:extLst>
      <p:ext uri="{BB962C8B-B14F-4D97-AF65-F5344CB8AC3E}">
        <p14:creationId xmlns:p14="http://schemas.microsoft.com/office/powerpoint/2010/main" val="33521447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4676453305]">
  <a:themeElements>
    <a:clrScheme name="ChitChat Modern">
      <a:dk1>
        <a:srgbClr val="2D2D2D"/>
      </a:dk1>
      <a:lt1>
        <a:srgbClr val="F0F0F0"/>
      </a:lt1>
      <a:dk2>
        <a:srgbClr val="4A4A4A"/>
      </a:dk2>
      <a:lt2>
        <a:srgbClr val="E8E8E8"/>
      </a:lt2>
      <a:accent1>
        <a:srgbClr val="0097A7"/>
      </a:accent1>
      <a:accent2>
        <a:srgbClr val="00BCD4"/>
      </a:accent2>
      <a:accent3>
        <a:srgbClr val="FF6F61"/>
      </a:accent3>
      <a:accent4>
        <a:srgbClr val="26A69A"/>
      </a:accent4>
      <a:accent5>
        <a:srgbClr val="546E7A"/>
      </a:accent5>
      <a:accent6>
        <a:srgbClr val="78909C"/>
      </a:accent6>
      <a:hlink>
        <a:srgbClr val="0000FF"/>
      </a:hlink>
      <a:folHlink>
        <a:srgbClr val="800080"/>
      </a:folHlink>
    </a:clrScheme>
    <a:fontScheme name="ChitChat Fonts">
      <a:majorFont>
        <a:latin typeface="Montserra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ource Sans Pr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4464434-F7F7-D747-8203-521D19D4C211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829</Words>
  <Application>Microsoft Macintosh PowerPoint</Application>
  <PresentationFormat>Custom</PresentationFormat>
  <Paragraphs>121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Source Sans Pro</vt:lpstr>
      <vt:lpstr>Office Theme [1774676453305]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 Mandaliya</cp:lastModifiedBy>
  <cp:revision>5</cp:revision>
  <dcterms:created xsi:type="dcterms:W3CDTF">2013-01-27T09:14:16Z</dcterms:created>
  <dcterms:modified xsi:type="dcterms:W3CDTF">2026-03-28T06:01:15Z</dcterms:modified>
  <cp:category/>
</cp:coreProperties>
</file>